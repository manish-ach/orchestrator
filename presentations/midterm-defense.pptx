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71" r:id="rId10"/>
    <p:sldId id="264" r:id="rId11"/>
    <p:sldId id="265" r:id="rId12"/>
    <p:sldId id="272" r:id="rId13"/>
    <p:sldId id="262" r:id="rId14"/>
    <p:sldId id="266" r:id="rId15"/>
    <p:sldId id="267" r:id="rId16"/>
    <p:sldId id="268" r:id="rId17"/>
    <p:sldId id="269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5"/>
    <p:restoredTop sz="94610"/>
  </p:normalViewPr>
  <p:slideViewPr>
    <p:cSldViewPr snapToGrid="0" snapToObjects="1">
      <p:cViewPr>
        <p:scale>
          <a:sx n="151" d="100"/>
          <a:sy n="151" d="100"/>
        </p:scale>
        <p:origin x="44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7990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CI/CD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Platform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58368" y="2788920"/>
            <a:ext cx="2926080" cy="0"/>
          </a:xfrm>
          <a:prstGeom prst="line">
            <a:avLst/>
          </a:prstGeom>
          <a:noFill/>
          <a:ln w="254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Mid-Term Project Defense</a:t>
            </a:r>
            <a:endParaRPr lang="en-US" sz="1800" dirty="0"/>
          </a:p>
        </p:txBody>
      </p:sp>
      <p:pic>
        <p:nvPicPr>
          <p:cNvPr id="6" name="Image 0" descr="/tmp/pptx-build/logos/ru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8368" y="4160520"/>
            <a:ext cx="548640" cy="548640"/>
          </a:xfrm>
          <a:prstGeom prst="rect">
            <a:avLst/>
          </a:prstGeom>
        </p:spPr>
      </p:pic>
      <p:pic>
        <p:nvPicPr>
          <p:cNvPr id="7" name="Image 1" descr="/tmp/pptx-build/logos/pyth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35608" y="4160520"/>
            <a:ext cx="548640" cy="548640"/>
          </a:xfrm>
          <a:prstGeom prst="rect">
            <a:avLst/>
          </a:prstGeom>
        </p:spPr>
      </p:pic>
      <p:pic>
        <p:nvPicPr>
          <p:cNvPr id="8" name="Image 2" descr="/tmp/pptx-build/logos/fastapi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212848" y="4160520"/>
            <a:ext cx="548640" cy="548640"/>
          </a:xfrm>
          <a:prstGeom prst="rect">
            <a:avLst/>
          </a:prstGeom>
        </p:spPr>
      </p:pic>
      <p:pic>
        <p:nvPicPr>
          <p:cNvPr id="9" name="Image 3" descr="/tmp/pptx-build/logos/docker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990088" y="4160520"/>
            <a:ext cx="548640" cy="548640"/>
          </a:xfrm>
          <a:prstGeom prst="rect">
            <a:avLst/>
          </a:prstGeom>
        </p:spPr>
      </p:pic>
      <p:pic>
        <p:nvPicPr>
          <p:cNvPr id="10" name="Image 4" descr="/tmp/pptx-build/logos/js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767328" y="416052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7077" y="6629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project?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self-hosted platform that runs build, test and deploy jobs </a:t>
            </a: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many machines</a:t>
            </a: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each job isolated in a container.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a single centralized server, if one worker fails its job is re-assigned automatically.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173736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320040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12064" y="34930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pushes code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06040" y="3108960"/>
            <a:ext cx="173736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60904" y="320040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660904" y="34930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3108960"/>
            <a:ext cx="173736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9744" y="320040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09744" y="34930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in containers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903720" y="3108960"/>
            <a:ext cx="173736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58584" y="320040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958584" y="34930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status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194560" y="3474720"/>
            <a:ext cx="4114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343400" y="3474720"/>
            <a:ext cx="4114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92240" y="3474720"/>
            <a:ext cx="4114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5510D3-8D29-52CC-FAB3-AE18CBA23EE6}"/>
              </a:ext>
            </a:extLst>
          </p:cNvPr>
          <p:cNvSpPr txBox="1"/>
          <p:nvPr/>
        </p:nvSpPr>
        <p:spPr>
          <a:xfrm>
            <a:off x="457200" y="127000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P" dirty="0"/>
              <a:t># REVISION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5599" y="411146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55599" y="95978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-&gt; coordinator -&gt; Redis queue -&gt; workers; PostgreSQL stores everything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74227" y="1610364"/>
            <a:ext cx="169164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091" y="1701804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Forgejo (git)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29091" y="199441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source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74227" y="2661924"/>
            <a:ext cx="169164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091" y="2753364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Parser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9091" y="304597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-&gt; plan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85907" y="1610364"/>
            <a:ext cx="1874520" cy="7772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40771" y="1701804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440771" y="1994412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-scheduler, health</a:t>
            </a:r>
            <a:endParaRPr lang="en-US" sz="950" dirty="0"/>
          </a:p>
        </p:txBody>
      </p:sp>
      <p:pic>
        <p:nvPicPr>
          <p:cNvPr id="14" name="Image 0" descr="/tmp/pptx-build/logos/ru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958675" y="1674372"/>
            <a:ext cx="256032" cy="2560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385907" y="2799084"/>
            <a:ext cx="187452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2440771" y="2890524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440771" y="3183132"/>
            <a:ext cx="17647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database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80467" y="1610364"/>
            <a:ext cx="128016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4635331" y="170180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635331" y="1994412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queue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180667" y="1595904"/>
            <a:ext cx="237744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35531" y="1656084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nodes  x N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235531" y="194869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jobs in containers</a:t>
            </a:r>
            <a:endParaRPr lang="en-US" sz="950" dirty="0"/>
          </a:p>
        </p:txBody>
      </p:sp>
      <p:pic>
        <p:nvPicPr>
          <p:cNvPr id="24" name="Image 1" descr="/tmp/pptx-build/logos/dock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92347" y="1628652"/>
            <a:ext cx="256032" cy="25603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385907" y="3558036"/>
            <a:ext cx="38404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dash"/>
          </a:ln>
        </p:spPr>
      </p:sp>
      <p:sp>
        <p:nvSpPr>
          <p:cNvPr id="26" name="Text 22"/>
          <p:cNvSpPr/>
          <p:nvPr/>
        </p:nvSpPr>
        <p:spPr>
          <a:xfrm>
            <a:off x="2440771" y="3649476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(hosted)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2440771" y="3942084"/>
            <a:ext cx="37307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live status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2065867" y="1939548"/>
            <a:ext cx="32004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 flipV="1">
            <a:off x="2065867" y="2296164"/>
            <a:ext cx="320040" cy="59436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4260427" y="1976124"/>
            <a:ext cx="32004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31" name="Text 27"/>
          <p:cNvSpPr/>
          <p:nvPr/>
        </p:nvSpPr>
        <p:spPr>
          <a:xfrm>
            <a:off x="3977640" y="130861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enqueue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5860627" y="1976124"/>
            <a:ext cx="32004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33" name="Text 29"/>
          <p:cNvSpPr/>
          <p:nvPr/>
        </p:nvSpPr>
        <p:spPr>
          <a:xfrm>
            <a:off x="5577840" y="1334013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4351867" y="24973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/ report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3300307" y="2387604"/>
            <a:ext cx="0" cy="41148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37" name="Text 33"/>
          <p:cNvSpPr/>
          <p:nvPr/>
        </p:nvSpPr>
        <p:spPr>
          <a:xfrm>
            <a:off x="3437467" y="24607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3300307" y="3347724"/>
            <a:ext cx="0" cy="210312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39" name="Text 35"/>
          <p:cNvSpPr/>
          <p:nvPr/>
        </p:nvSpPr>
        <p:spPr>
          <a:xfrm>
            <a:off x="374227" y="43535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= working now    ·    Dashed = planned / in progress</a:t>
            </a:r>
            <a:endParaRPr lang="en-US" sz="1000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EB10C88-DE25-0E1F-45E6-46C83E227373}"/>
              </a:ext>
            </a:extLst>
          </p:cNvPr>
          <p:cNvGrpSpPr/>
          <p:nvPr/>
        </p:nvGrpSpPr>
        <p:grpSpPr>
          <a:xfrm>
            <a:off x="4260427" y="2075361"/>
            <a:ext cx="3108960" cy="891540"/>
            <a:chOff x="4251960" y="1934030"/>
            <a:chExt cx="3108960" cy="891540"/>
          </a:xfrm>
        </p:grpSpPr>
        <p:cxnSp>
          <p:nvCxnSpPr>
            <p:cNvPr id="49" name="Elbow Connector 48">
              <a:extLst>
                <a:ext uri="{FF2B5EF4-FFF2-40B4-BE49-F238E27FC236}">
                  <a16:creationId xmlns:a16="http://schemas.microsoft.com/office/drawing/2014/main" id="{1AF2A756-E2D9-12C8-5CFF-5AC80DE3F6C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63614" y="1114407"/>
              <a:ext cx="457200" cy="2937412"/>
            </a:xfrm>
            <a:prstGeom prst="bentConnector2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61B36822-5C90-5F15-A0D1-8B65AB6E057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3888056" y="2297934"/>
              <a:ext cx="891540" cy="163732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80EFA259-0555-4F06-9717-B275C980BD8C}"/>
              </a:ext>
            </a:extLst>
          </p:cNvPr>
          <p:cNvSpPr txBox="1"/>
          <p:nvPr/>
        </p:nvSpPr>
        <p:spPr>
          <a:xfrm>
            <a:off x="457200" y="127000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P" dirty="0"/>
              <a:t># REVISION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&amp; infrastructure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platform runs</a:t>
            </a:r>
            <a:endParaRPr lang="en-US" sz="12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A3AD29C-09DC-291E-DD7B-38955D059DB7}"/>
              </a:ext>
            </a:extLst>
          </p:cNvPr>
          <p:cNvGrpSpPr/>
          <p:nvPr/>
        </p:nvGrpSpPr>
        <p:grpSpPr>
          <a:xfrm>
            <a:off x="201168" y="1904609"/>
            <a:ext cx="1965960" cy="1219982"/>
            <a:chOff x="333756" y="1760962"/>
            <a:chExt cx="1965960" cy="1219982"/>
          </a:xfrm>
        </p:grpSpPr>
        <p:sp>
          <p:nvSpPr>
            <p:cNvPr id="5" name="Shape 3"/>
            <p:cNvSpPr/>
            <p:nvPr/>
          </p:nvSpPr>
          <p:spPr>
            <a:xfrm>
              <a:off x="333756" y="1760962"/>
              <a:ext cx="1965960" cy="10515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333333"/>
              </a:solidFill>
              <a:prstDash val="solid"/>
            </a:ln>
          </p:spPr>
          <p:txBody>
            <a:bodyPr/>
            <a:lstStyle/>
            <a:p>
              <a:endParaRPr lang="en-NP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20624" y="1965960"/>
              <a:ext cx="185623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50" b="1" dirty="0" err="1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Forgejo</a:t>
              </a:r>
              <a:r>
                <a:rPr lang="en-US" sz="1250" b="1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- self-hosted git</a:t>
              </a:r>
              <a:endParaRPr lang="en-US" sz="12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20624" y="2386584"/>
              <a:ext cx="1856232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5555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git.manishacharya.name.np</a:t>
              </a:r>
              <a:endParaRPr lang="en-US" sz="950" dirty="0"/>
            </a:p>
          </p:txBody>
        </p:sp>
      </p:grpSp>
      <p:sp>
        <p:nvSpPr>
          <p:cNvPr id="8" name="Shape 6"/>
          <p:cNvSpPr/>
          <p:nvPr/>
        </p:nvSpPr>
        <p:spPr>
          <a:xfrm>
            <a:off x="2788920" y="1371600"/>
            <a:ext cx="36118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14630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Cloud VM  ·  Mumbai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78892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OCPU  ·  6 GB RAM  ·  100 GB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71800" y="2103120"/>
            <a:ext cx="1572768" cy="5486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6664" y="2240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103120"/>
            <a:ext cx="1572768" cy="5486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18304" y="2240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971800" y="2788920"/>
            <a:ext cx="1572768" cy="5486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26664" y="2926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2788920"/>
            <a:ext cx="1572768" cy="5486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18304" y="2926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0" y="1874520"/>
            <a:ext cx="18745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12864" y="196596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test laptops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12864" y="2258568"/>
            <a:ext cx="1764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nodes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 flipV="1">
            <a:off x="2167128" y="2395727"/>
            <a:ext cx="621792" cy="6487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792224" y="21214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H="1">
            <a:off x="6400800" y="2395728"/>
            <a:ext cx="45720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6309360" y="16276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calls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Coordinator, Redis, PostgreSQL and the dashboard are hosted together on the Mumbai VM.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physical laptops act as distributed worker nodes; Forgejo triggers pipelines via webhook.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modules, one system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programs that talk over HTTP + JSON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77640" cy="12344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94310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pic>
        <p:nvPicPr>
          <p:cNvPr id="7" name="Image 0" descr="/tmp/pptx-build/logos/ru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719072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71907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</a:t>
            </a: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Rust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08760" y="212140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Schedules, tracks health, dispatches jobs.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09160" y="1463040"/>
            <a:ext cx="3977640" cy="12344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64024" y="194310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pic>
        <p:nvPicPr>
          <p:cNvPr id="12" name="Image 1" descr="/tmp/pptx-build/logos/pyth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92040" y="1719072"/>
            <a:ext cx="731520" cy="731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60720" y="171907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Parser</a:t>
            </a: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Python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760720" y="212140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pipeline.yml, validates, orders jobs.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" y="2880360"/>
            <a:ext cx="3977640" cy="12344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12064" y="336042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pic>
        <p:nvPicPr>
          <p:cNvPr id="17" name="Image 2" descr="/tmp/pptx-build/logos/fastapi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0080" y="3136392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1363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Executor</a:t>
            </a: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FastAPI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508760" y="35387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 command in a container, reports result.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709160" y="2880360"/>
            <a:ext cx="3977640" cy="123444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764024" y="336042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pic>
        <p:nvPicPr>
          <p:cNvPr id="22" name="Image 3" descr="/tmp/pptx-build/logos/js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92040" y="3136392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760720" y="31363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HTML / JS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760720" y="35387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pipelines, jobs and logs, live.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- Coordinator (the core)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distributed engine works</a:t>
            </a:r>
            <a:endParaRPr lang="en-US" sz="1200" dirty="0"/>
          </a:p>
        </p:txBody>
      </p:sp>
      <p:pic>
        <p:nvPicPr>
          <p:cNvPr id="5" name="Image 0" descr="/tmp/pptx-build/logos/ru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55280" y="3200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37160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API: register, heartbeat, trigger, claim, report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queue + worker registry in memory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failure detection - a dead worker is caught automatically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486400" y="1463040"/>
            <a:ext cx="3108960" cy="73152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41264" y="15544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541264" y="184708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+ registry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486400" y="274320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41264" y="29718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A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178040" y="274320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32904" y="29718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B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035040" y="2194560"/>
            <a:ext cx="0" cy="54864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5029200" y="23317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 flipH="1" flipV="1">
            <a:off x="6858000" y="2194560"/>
            <a:ext cx="914400" cy="54864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7360920" y="23317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486400" y="3886200"/>
            <a:ext cx="310896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5541264" y="397764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Reaper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541264" y="427024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heartbeat 5s -&gt; offline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040880" y="3474720"/>
            <a:ext cx="0" cy="411480"/>
          </a:xfrm>
          <a:prstGeom prst="line">
            <a:avLst/>
          </a:prstGeom>
          <a:noFill/>
          <a:ln w="15875">
            <a:solidFill>
              <a:srgbClr val="333333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266D0C2-AF62-B334-1846-68464807D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62" y="106065"/>
            <a:ext cx="8807938" cy="493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42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- Pipeline Parser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 YAML file into an ordered job plan</a:t>
            </a:r>
            <a:endParaRPr lang="en-US" sz="1200" dirty="0"/>
          </a:p>
        </p:txBody>
      </p:sp>
      <p:pic>
        <p:nvPicPr>
          <p:cNvPr id="5" name="Image 0" descr="/tmp/pptx-build/logos/pyth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55280" y="3200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37160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pipeline.yml into typed objects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Validates: unknown stages, bad references, cycles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Topological sort -&gt; execution order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CLI: validate and plan commands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3840480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645920" y="385876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emit full job details (command, image) to the coordinator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0" y="1828800"/>
            <a:ext cx="12344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41264" y="192024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541264" y="221284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86400" y="2743200"/>
            <a:ext cx="12344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41264" y="283464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541264" y="312724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0" y="3657600"/>
            <a:ext cx="12344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41264" y="374904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541264" y="404164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099048" y="2468880"/>
            <a:ext cx="0" cy="27432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099048" y="3383280"/>
            <a:ext cx="0" cy="27432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23760" y="2743200"/>
            <a:ext cx="1371600" cy="64008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278624" y="2834640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models.py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278624" y="3127248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 flipH="1">
            <a:off x="6720840" y="3063240"/>
            <a:ext cx="50292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BE0E29-1427-9F4C-9632-030FEDB1E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43" y="103553"/>
            <a:ext cx="4755002" cy="2058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0916D7-CB36-B38A-2614-8E10EF861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6214" y="87923"/>
            <a:ext cx="4082667" cy="20973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564274-F7F1-AA8E-5539-A081014B6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2754" y="2393461"/>
            <a:ext cx="5722605" cy="2491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4409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- Command Executor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 job in a container and reports the result</a:t>
            </a:r>
            <a:endParaRPr lang="en-US" sz="1200" dirty="0"/>
          </a:p>
        </p:txBody>
      </p:sp>
      <p:pic>
        <p:nvPicPr>
          <p:cNvPr id="5" name="Image 0" descr="/tmp/pptx-build/logos/fastapi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0" y="292608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37160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service; the worker calls it over HTTP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command as a subprocess (Docker next)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logs, exit code, timeout, cancel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every job in SQLite (survives restart)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02920" y="3749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645920" y="37673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(config, DB schema, API) built; executor is the current work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0" y="1920240"/>
            <a:ext cx="137160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41264" y="2011680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/run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541264" y="2304288"/>
            <a:ext cx="1261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86400" y="2880360"/>
            <a:ext cx="137160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5541264" y="2971800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541264" y="3264408"/>
            <a:ext cx="1261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178040" y="2395728"/>
            <a:ext cx="1417320" cy="685800"/>
          </a:xfrm>
          <a:prstGeom prst="rect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32904" y="2487168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232904" y="2779776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+ logs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172200" y="2606040"/>
            <a:ext cx="0" cy="27432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858000" y="2743200"/>
            <a:ext cx="32004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- Dashboard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view of pipelines, jobs and logs</a:t>
            </a:r>
            <a:endParaRPr lang="en-US" sz="1200" dirty="0"/>
          </a:p>
        </p:txBody>
      </p:sp>
      <p:pic>
        <p:nvPicPr>
          <p:cNvPr id="5" name="Image 0" descr="/tmp/pptx-build/logos/j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01000" y="3200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37160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pages: run list, run detail, job logs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Colour-coded status (green / red / yellow / grey)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Auto-refresh every 3 seconds (plain fetch)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HTML / CSS / JS : no framework needed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02920" y="3749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645920" y="37673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shell built; data layer (fetch + render) is next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0" y="1828800"/>
            <a:ext cx="105156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41264" y="192024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541264" y="2212848"/>
            <a:ext cx="941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83680" y="1828800"/>
            <a:ext cx="105156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38544" y="192024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638544" y="2212848"/>
            <a:ext cx="941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680960" y="1828800"/>
            <a:ext cx="105156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35824" y="192024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35824" y="2212848"/>
            <a:ext cx="941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537960" y="2514600"/>
            <a:ext cx="4572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635240" y="2514600"/>
            <a:ext cx="4572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B6D37F-869A-3DBA-2349-4E59ED7C5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92" y="410796"/>
            <a:ext cx="8837015" cy="432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643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across modules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92608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60934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(Rust)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566160" y="1609344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1609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754880" y="141732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API, heartbeats, failure detection, claim/report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292608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243230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Parser (Python)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66160" y="2432304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4323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22402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Parser, validator, planner, CLI, tests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292608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25526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Executor (FastAPI)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66160" y="3255264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566160" y="32552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3063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DB + app skeleton; executor next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292608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" y="407822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(HTML/JS)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66160" y="4078224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566160" y="40782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54880" y="38862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shell for 3 pages; data layer next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works end-to-end today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pipeline run, step by step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2344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82880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Trigger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12064" y="2121408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91640" y="2148840"/>
            <a:ext cx="1828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74520" y="1737360"/>
            <a:ext cx="12344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9384" y="182880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Queue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929384" y="2121408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108960" y="2148840"/>
            <a:ext cx="1828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91840" y="1737360"/>
            <a:ext cx="12344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46704" y="182880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Claim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46704" y="2121408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takes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26280" y="2148840"/>
            <a:ext cx="1828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1737360"/>
            <a:ext cx="12344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64024" y="182880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Run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64024" y="2121408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0" y="2148840"/>
            <a:ext cx="1828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26480" y="1737360"/>
            <a:ext cx="12344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82880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Report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81344" y="2121408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/ fail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60920" y="2148840"/>
            <a:ext cx="1828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543800" y="1737360"/>
            <a:ext cx="12344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98664" y="182880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Status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98664" y="2121408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a worker mid-job and the coordinator detects the failure within seconds.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run each job inside a Docker container instead of a bare subprocess.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to be done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84832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19933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queue + PostgreSQL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Requeue dead job + stage order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jobs in Docker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24328" y="1371600"/>
            <a:ext cx="2084832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24328" y="137160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Executor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70048" y="1965960"/>
            <a:ext cx="19933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 executor + logs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&amp; cancel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endpoints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91456" y="1371600"/>
            <a:ext cx="2084832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1456" y="137160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37176" y="1965960"/>
            <a:ext cx="19933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+ 3s refresh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live data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Cross-origin (CORS)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958584" y="1371600"/>
            <a:ext cx="2084832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58584" y="137160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004304" y="1965960"/>
            <a:ext cx="19933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modules over HTTP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 stack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tests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to final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402336" cy="402336"/>
          </a:xfrm>
          <a:prstGeom prst="ellipse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04088" y="1929384"/>
            <a:ext cx="0" cy="384048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50876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execution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150876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 + coordinator job requeue &amp; ordering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402336" cy="402336"/>
          </a:xfrm>
          <a:prstGeom prst="ellipse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04088" y="2734056"/>
            <a:ext cx="0" cy="384048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313432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&amp; display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2313432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data layer; wire the modules together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136392"/>
            <a:ext cx="402336" cy="402336"/>
          </a:xfrm>
          <a:prstGeom prst="ellipse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136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04088" y="3538728"/>
            <a:ext cx="0" cy="384048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118104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11810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jobs in Docker; docker-compose the stack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941064"/>
            <a:ext cx="402336" cy="402336"/>
          </a:xfrm>
          <a:prstGeom prst="ellipse">
            <a:avLst/>
          </a:prstGeom>
          <a:solidFill>
            <a:srgbClr val="F4F4F4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3922776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3922776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tests, evaluation, documentation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distributed, containerized CI/CD platform - four independent modules.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Done: the Rust coordinator and the pipeline parser.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progress: the command executor and the dashboard data layer.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do: Docker execution, integration, end-to-end testing.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804672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distributed core works today; remaining work is execution, integration and containerization.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 ·  Questions?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854</Words>
  <Application>Microsoft Macintosh PowerPoint</Application>
  <PresentationFormat>On-screen Show (16:9)</PresentationFormat>
  <Paragraphs>200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Containerized CI/CD Orchestration Platform — Mid-Term Defense</dc:title>
  <dc:subject>PptxGenJS Presentation</dc:subject>
  <dc:creator>PptxGenJS</dc:creator>
  <cp:lastModifiedBy>manish-ach</cp:lastModifiedBy>
  <cp:revision>4</cp:revision>
  <dcterms:created xsi:type="dcterms:W3CDTF">2026-07-02T15:37:27Z</dcterms:created>
  <dcterms:modified xsi:type="dcterms:W3CDTF">2026-07-03T05:51:31Z</dcterms:modified>
</cp:coreProperties>
</file>